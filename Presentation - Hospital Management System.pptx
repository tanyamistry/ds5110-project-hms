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Georgia Pro Condensed Light" charset="1" panose="02040306050405020303"/>
      <p:regular r:id="rId19"/>
    </p:embeddedFont>
    <p:embeddedFont>
      <p:font typeface="TT Interphases" charset="1" panose="02000503020000020004"/>
      <p:regular r:id="rId20"/>
    </p:embeddedFont>
    <p:embeddedFont>
      <p:font typeface="TT Interphases Bold" charset="1" panose="02000803060000020004"/>
      <p:regular r:id="rId21"/>
    </p:embeddedFont>
    <p:embeddedFont>
      <p:font typeface="Canva Sans" charset="1" panose="020B0503030501040103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991600" y="1562100"/>
            <a:ext cx="8629650" cy="8724900"/>
            <a:chOff x="0" y="0"/>
            <a:chExt cx="2482140" cy="25095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82140" cy="2509537"/>
            </a:xfrm>
            <a:custGeom>
              <a:avLst/>
              <a:gdLst/>
              <a:ahLst/>
              <a:cxnLst/>
              <a:rect r="r" b="b" t="t" l="l"/>
              <a:pathLst>
                <a:path h="2509537" w="2482140">
                  <a:moveTo>
                    <a:pt x="0" y="0"/>
                  </a:moveTo>
                  <a:lnTo>
                    <a:pt x="2482140" y="0"/>
                  </a:lnTo>
                  <a:lnTo>
                    <a:pt x="2482140" y="2509537"/>
                  </a:lnTo>
                  <a:lnTo>
                    <a:pt x="0" y="2509537"/>
                  </a:lnTo>
                  <a:close/>
                </a:path>
              </a:pathLst>
            </a:custGeom>
            <a:blipFill>
              <a:blip r:embed="rId2"/>
              <a:stretch>
                <a:fillRect l="0" t="-80" r="0" b="-8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6750" y="1619250"/>
            <a:ext cx="6886575" cy="3034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20"/>
              </a:lnSpc>
            </a:pPr>
            <a:r>
              <a:rPr lang="en-US" sz="7200" strike="noStrike" u="none">
                <a:solidFill>
                  <a:srgbClr val="337AB7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Hospital Management System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66750" y="8899644"/>
            <a:ext cx="5448300" cy="737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337AB7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Presented by: Tanya Mistry, Krishang Shah [DS5110]</a:t>
            </a:r>
          </a:p>
        </p:txBody>
      </p:sp>
      <p:sp>
        <p:nvSpPr>
          <p:cNvPr name="AutoShape 6" id="6"/>
          <p:cNvSpPr/>
          <p:nvPr/>
        </p:nvSpPr>
        <p:spPr>
          <a:xfrm>
            <a:off x="666750" y="1263650"/>
            <a:ext cx="16954500" cy="0"/>
          </a:xfrm>
          <a:prstGeom prst="line">
            <a:avLst/>
          </a:prstGeom>
          <a:ln cap="flat" w="9525">
            <a:solidFill>
              <a:srgbClr val="337AB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666750" y="695325"/>
            <a:ext cx="169545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100"/>
              </a:lnSpc>
            </a:pPr>
            <a:r>
              <a:rPr lang="en-US" b="true" sz="2100">
                <a:solidFill>
                  <a:srgbClr val="5599CC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HEALTHCARE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8E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991600" y="666750"/>
            <a:ext cx="9296400" cy="9620250"/>
            <a:chOff x="0" y="0"/>
            <a:chExt cx="957635" cy="9909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57635" cy="990995"/>
            </a:xfrm>
            <a:custGeom>
              <a:avLst/>
              <a:gdLst/>
              <a:ahLst/>
              <a:cxnLst/>
              <a:rect r="r" b="b" t="t" l="l"/>
              <a:pathLst>
                <a:path h="990995" w="957635">
                  <a:moveTo>
                    <a:pt x="0" y="0"/>
                  </a:moveTo>
                  <a:lnTo>
                    <a:pt x="957635" y="0"/>
                  </a:lnTo>
                  <a:lnTo>
                    <a:pt x="957635" y="990995"/>
                  </a:lnTo>
                  <a:lnTo>
                    <a:pt x="0" y="990995"/>
                  </a:lnTo>
                  <a:close/>
                </a:path>
              </a:pathLst>
            </a:custGeom>
            <a:blipFill>
              <a:blip r:embed="rId2"/>
              <a:stretch>
                <a:fillRect l="0" t="-69" r="0" b="-69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6750" y="723900"/>
            <a:ext cx="6886575" cy="2034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20"/>
              </a:lnSpc>
            </a:pPr>
            <a:r>
              <a:rPr lang="en-US" sz="7200">
                <a:solidFill>
                  <a:srgbClr val="337AB7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The Need for Change</a:t>
            </a:r>
          </a:p>
        </p:txBody>
      </p:sp>
      <p:sp>
        <p:nvSpPr>
          <p:cNvPr name="AutoShape 5" id="5"/>
          <p:cNvSpPr/>
          <p:nvPr/>
        </p:nvSpPr>
        <p:spPr>
          <a:xfrm flipV="true">
            <a:off x="666750" y="9625012"/>
            <a:ext cx="5753100" cy="0"/>
          </a:xfrm>
          <a:prstGeom prst="line">
            <a:avLst/>
          </a:prstGeom>
          <a:ln cap="flat" w="9525">
            <a:solidFill>
              <a:srgbClr val="337AB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666750" y="6501765"/>
            <a:ext cx="6886575" cy="222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</a:pPr>
            <a:r>
              <a:rPr lang="en-US" sz="2100">
                <a:solidFill>
                  <a:srgbClr val="337AB7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Hospitals face significant challenges due to </a:t>
            </a:r>
            <a:r>
              <a:rPr lang="en-US" b="true" sz="2100">
                <a:solidFill>
                  <a:srgbClr val="337AB7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fragmented paper records</a:t>
            </a:r>
            <a:r>
              <a:rPr lang="en-US" sz="2100">
                <a:solidFill>
                  <a:srgbClr val="337AB7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and </a:t>
            </a:r>
            <a:r>
              <a:rPr lang="en-US" b="true" sz="2100">
                <a:solidFill>
                  <a:srgbClr val="337AB7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inconsistent data</a:t>
            </a:r>
            <a:r>
              <a:rPr lang="en-US" sz="2100">
                <a:solidFill>
                  <a:srgbClr val="337AB7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. Slow access to information hampers decision-making, leading to poor analytics and ultimately impacting patient care. A modernized system is essential for improved efficiency and data management.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991600" y="666750"/>
            <a:ext cx="9296400" cy="9620250"/>
            <a:chOff x="0" y="0"/>
            <a:chExt cx="957635" cy="9909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57635" cy="990995"/>
            </a:xfrm>
            <a:custGeom>
              <a:avLst/>
              <a:gdLst/>
              <a:ahLst/>
              <a:cxnLst/>
              <a:rect r="r" b="b" t="t" l="l"/>
              <a:pathLst>
                <a:path h="990995" w="957635">
                  <a:moveTo>
                    <a:pt x="0" y="0"/>
                  </a:moveTo>
                  <a:lnTo>
                    <a:pt x="957635" y="0"/>
                  </a:lnTo>
                  <a:lnTo>
                    <a:pt x="957635" y="990995"/>
                  </a:lnTo>
                  <a:lnTo>
                    <a:pt x="0" y="990995"/>
                  </a:lnTo>
                  <a:close/>
                </a:path>
              </a:pathLst>
            </a:custGeom>
            <a:blipFill>
              <a:blip r:embed="rId2"/>
              <a:stretch>
                <a:fillRect l="0" t="-69" r="0" b="-69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6750" y="723900"/>
            <a:ext cx="6886575" cy="2034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20"/>
              </a:lnSpc>
            </a:pPr>
            <a:r>
              <a:rPr lang="en-US" sz="7200">
                <a:solidFill>
                  <a:srgbClr val="337AB7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Our Unified Solution</a:t>
            </a:r>
          </a:p>
        </p:txBody>
      </p:sp>
      <p:sp>
        <p:nvSpPr>
          <p:cNvPr name="AutoShape 5" id="5"/>
          <p:cNvSpPr/>
          <p:nvPr/>
        </p:nvSpPr>
        <p:spPr>
          <a:xfrm flipV="true">
            <a:off x="666750" y="9625012"/>
            <a:ext cx="5753100" cy="0"/>
          </a:xfrm>
          <a:prstGeom prst="line">
            <a:avLst/>
          </a:prstGeom>
          <a:ln cap="flat" w="9525">
            <a:solidFill>
              <a:srgbClr val="337AB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666750" y="6501765"/>
            <a:ext cx="6886575" cy="222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</a:pPr>
            <a:r>
              <a:rPr lang="en-US" sz="2100">
                <a:solidFill>
                  <a:srgbClr val="337AB7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The </a:t>
            </a:r>
            <a:r>
              <a:rPr lang="en-US" b="true" sz="2100">
                <a:solidFill>
                  <a:srgbClr val="337AB7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Unified Hospital Admin System</a:t>
            </a:r>
            <a:r>
              <a:rPr lang="en-US" sz="2100">
                <a:solidFill>
                  <a:srgbClr val="337AB7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is an innovative prototype designed exclusively for administrative use. It features clean workflows, secure data management, and a modular architecture, providing a comprehensive platform for managing hospital operations efficiently and effectively.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8E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666750" y="9625012"/>
            <a:ext cx="5753100" cy="0"/>
          </a:xfrm>
          <a:prstGeom prst="line">
            <a:avLst/>
          </a:prstGeom>
          <a:ln cap="flat" w="9525">
            <a:solidFill>
              <a:srgbClr val="337AB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666750" y="2524064"/>
            <a:ext cx="13398250" cy="2884446"/>
          </a:xfrm>
          <a:custGeom>
            <a:avLst/>
            <a:gdLst/>
            <a:ahLst/>
            <a:cxnLst/>
            <a:rect r="r" b="b" t="t" l="l"/>
            <a:pathLst>
              <a:path h="2884446" w="13398250">
                <a:moveTo>
                  <a:pt x="0" y="0"/>
                </a:moveTo>
                <a:lnTo>
                  <a:pt x="13398250" y="0"/>
                </a:lnTo>
                <a:lnTo>
                  <a:pt x="13398250" y="2884446"/>
                </a:lnTo>
                <a:lnTo>
                  <a:pt x="0" y="28844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66750" y="723900"/>
            <a:ext cx="11567833" cy="103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20"/>
              </a:lnSpc>
            </a:pPr>
            <a:r>
              <a:rPr lang="en-US" sz="7200">
                <a:solidFill>
                  <a:srgbClr val="337AB7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Technical Architecture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66750" y="6501765"/>
            <a:ext cx="6886575" cy="222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</a:pPr>
            <a:r>
              <a:rPr lang="en-US" sz="2100">
                <a:solidFill>
                  <a:srgbClr val="337AB7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The architecture of our hospital management system features a robust </a:t>
            </a:r>
            <a:r>
              <a:rPr lang="en-US" b="true" sz="2100">
                <a:solidFill>
                  <a:srgbClr val="337AB7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Tkinter front-end</a:t>
            </a:r>
            <a:r>
              <a:rPr lang="en-US" sz="2100">
                <a:solidFill>
                  <a:srgbClr val="337AB7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for user interaction and an </a:t>
            </a:r>
            <a:r>
              <a:rPr lang="en-US" b="true" sz="2100">
                <a:solidFill>
                  <a:srgbClr val="337AB7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SQLite backend</a:t>
            </a:r>
            <a:r>
              <a:rPr lang="en-US" sz="2100">
                <a:solidFill>
                  <a:srgbClr val="337AB7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for efficient data storage. This layered design enhances data flow, ensuring seamless integration and improved user experience across various modules.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19125" y="8442417"/>
            <a:ext cx="2571750" cy="2571750"/>
          </a:xfrm>
          <a:custGeom>
            <a:avLst/>
            <a:gdLst/>
            <a:ahLst/>
            <a:cxnLst/>
            <a:rect r="r" b="b" t="t" l="l"/>
            <a:pathLst>
              <a:path h="2571750" w="2571750">
                <a:moveTo>
                  <a:pt x="0" y="0"/>
                </a:moveTo>
                <a:lnTo>
                  <a:pt x="2571750" y="0"/>
                </a:lnTo>
                <a:lnTo>
                  <a:pt x="2571750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734898" y="2320791"/>
            <a:ext cx="16818203" cy="6937509"/>
          </a:xfrm>
          <a:custGeom>
            <a:avLst/>
            <a:gdLst/>
            <a:ahLst/>
            <a:cxnLst/>
            <a:rect r="r" b="b" t="t" l="l"/>
            <a:pathLst>
              <a:path h="6937509" w="16818203">
                <a:moveTo>
                  <a:pt x="0" y="0"/>
                </a:moveTo>
                <a:lnTo>
                  <a:pt x="16818204" y="0"/>
                </a:lnTo>
                <a:lnTo>
                  <a:pt x="16818204" y="6937509"/>
                </a:lnTo>
                <a:lnTo>
                  <a:pt x="0" y="69375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66750" y="723900"/>
            <a:ext cx="11201400" cy="100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00"/>
              </a:lnSpc>
            </a:pPr>
            <a:r>
              <a:rPr lang="en-US" sz="7000">
                <a:solidFill>
                  <a:srgbClr val="337AB7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Entity-Relationship Diagram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723900"/>
            <a:ext cx="5753100" cy="2034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20"/>
              </a:lnSpc>
              <a:spcBef>
                <a:spcPct val="0"/>
              </a:spcBef>
            </a:pPr>
            <a:r>
              <a:rPr lang="en-US" sz="7200" strike="noStrike" u="none">
                <a:solidFill>
                  <a:srgbClr val="337AB7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Key Technical Features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7858125" y="657225"/>
            <a:ext cx="4314825" cy="2634615"/>
            <a:chOff x="0" y="0"/>
            <a:chExt cx="5753100" cy="3512819"/>
          </a:xfrm>
        </p:grpSpPr>
        <p:sp>
          <p:nvSpPr>
            <p:cNvPr name="AutoShape 4" id="4"/>
            <p:cNvSpPr/>
            <p:nvPr/>
          </p:nvSpPr>
          <p:spPr>
            <a:xfrm flipV="true">
              <a:off x="0" y="12700"/>
              <a:ext cx="5753100" cy="0"/>
            </a:xfrm>
            <a:prstGeom prst="line">
              <a:avLst/>
            </a:prstGeom>
            <a:ln cap="flat" w="25400">
              <a:solidFill>
                <a:srgbClr val="337AB7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5" id="5"/>
            <p:cNvSpPr txBox="true"/>
            <p:nvPr/>
          </p:nvSpPr>
          <p:spPr>
            <a:xfrm rot="0">
              <a:off x="0" y="1555115"/>
              <a:ext cx="5753100" cy="19577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337AB7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Employing foreign keys ensures data integrity across the database, enabling seamless relationships between tables.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614045"/>
              <a:ext cx="5753100" cy="592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</a:pPr>
              <a:r>
                <a:rPr lang="en-US" sz="3200">
                  <a:solidFill>
                    <a:srgbClr val="5599CC"/>
                  </a:solidFill>
                  <a:latin typeface="Georgia Pro Condensed Light"/>
                  <a:ea typeface="Georgia Pro Condensed Light"/>
                  <a:cs typeface="Georgia Pro Condensed Light"/>
                  <a:sym typeface="Georgia Pro Condensed Light"/>
                </a:rPr>
                <a:t>Foreign Keys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306425" y="657225"/>
            <a:ext cx="4314825" cy="2634615"/>
            <a:chOff x="0" y="0"/>
            <a:chExt cx="5753100" cy="3512819"/>
          </a:xfrm>
        </p:grpSpPr>
        <p:sp>
          <p:nvSpPr>
            <p:cNvPr name="AutoShape 8" id="8"/>
            <p:cNvSpPr/>
            <p:nvPr/>
          </p:nvSpPr>
          <p:spPr>
            <a:xfrm>
              <a:off x="0" y="12700"/>
              <a:ext cx="5753100" cy="0"/>
            </a:xfrm>
            <a:prstGeom prst="line">
              <a:avLst/>
            </a:prstGeom>
            <a:ln cap="flat" w="25400">
              <a:solidFill>
                <a:srgbClr val="337AB7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9" id="9"/>
            <p:cNvSpPr txBox="true"/>
            <p:nvPr/>
          </p:nvSpPr>
          <p:spPr>
            <a:xfrm rot="0">
              <a:off x="0" y="1555115"/>
              <a:ext cx="5753100" cy="19577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337AB7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CHECK constraints validate data entries, ensuring only acceptable values are stored in the database fields.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614045"/>
              <a:ext cx="5753100" cy="592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</a:pPr>
              <a:r>
                <a:rPr lang="en-US" sz="3200">
                  <a:solidFill>
                    <a:srgbClr val="5599CC"/>
                  </a:solidFill>
                  <a:latin typeface="Georgia Pro Condensed Light"/>
                  <a:ea typeface="Georgia Pro Condensed Light"/>
                  <a:cs typeface="Georgia Pro Condensed Light"/>
                  <a:sym typeface="Georgia Pro Condensed Light"/>
                </a:rPr>
                <a:t>CHECK Constraints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858125" y="5133975"/>
            <a:ext cx="4314825" cy="2634615"/>
            <a:chOff x="0" y="0"/>
            <a:chExt cx="5753100" cy="3512819"/>
          </a:xfrm>
        </p:grpSpPr>
        <p:sp>
          <p:nvSpPr>
            <p:cNvPr name="AutoShape 12" id="12"/>
            <p:cNvSpPr/>
            <p:nvPr/>
          </p:nvSpPr>
          <p:spPr>
            <a:xfrm flipV="true">
              <a:off x="0" y="12700"/>
              <a:ext cx="5753100" cy="0"/>
            </a:xfrm>
            <a:prstGeom prst="line">
              <a:avLst/>
            </a:prstGeom>
            <a:ln cap="flat" w="25400">
              <a:solidFill>
                <a:srgbClr val="337AB7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3" id="13"/>
            <p:cNvSpPr txBox="true"/>
            <p:nvPr/>
          </p:nvSpPr>
          <p:spPr>
            <a:xfrm rot="0">
              <a:off x="0" y="1555115"/>
              <a:ext cx="5753100" cy="19577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337AB7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Indexing enhances data retrieval speed, significantly improving performance for database queries and user interactions.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614045"/>
              <a:ext cx="5753100" cy="592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</a:pPr>
              <a:r>
                <a:rPr lang="en-US" sz="3200">
                  <a:solidFill>
                    <a:srgbClr val="5599CC"/>
                  </a:solidFill>
                  <a:latin typeface="Georgia Pro Condensed Light"/>
                  <a:ea typeface="Georgia Pro Condensed Light"/>
                  <a:cs typeface="Georgia Pro Condensed Light"/>
                  <a:sym typeface="Georgia Pro Condensed Light"/>
                </a:rPr>
                <a:t>Indexing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306425" y="5133975"/>
            <a:ext cx="4314825" cy="2263140"/>
            <a:chOff x="0" y="0"/>
            <a:chExt cx="5753100" cy="3017519"/>
          </a:xfrm>
        </p:grpSpPr>
        <p:sp>
          <p:nvSpPr>
            <p:cNvPr name="AutoShape 16" id="16"/>
            <p:cNvSpPr/>
            <p:nvPr/>
          </p:nvSpPr>
          <p:spPr>
            <a:xfrm>
              <a:off x="0" y="12700"/>
              <a:ext cx="5753100" cy="0"/>
            </a:xfrm>
            <a:prstGeom prst="line">
              <a:avLst/>
            </a:prstGeom>
            <a:ln cap="flat" w="25400">
              <a:solidFill>
                <a:srgbClr val="337AB7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7" id="17"/>
            <p:cNvSpPr txBox="true"/>
            <p:nvPr/>
          </p:nvSpPr>
          <p:spPr>
            <a:xfrm rot="0">
              <a:off x="0" y="1555115"/>
              <a:ext cx="5753100" cy="14624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337AB7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Seeded data allows for initial testing and development, providing realistic sample records for the application.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614045"/>
              <a:ext cx="5753100" cy="592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</a:pPr>
              <a:r>
                <a:rPr lang="en-US" sz="3200">
                  <a:solidFill>
                    <a:srgbClr val="5599CC"/>
                  </a:solidFill>
                  <a:latin typeface="Georgia Pro Condensed Light"/>
                  <a:ea typeface="Georgia Pro Condensed Light"/>
                  <a:cs typeface="Georgia Pro Condensed Light"/>
                  <a:sym typeface="Georgia Pro Condensed Light"/>
                </a:rPr>
                <a:t>Seeded Data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666750" y="6153150"/>
            <a:ext cx="2571750" cy="2571750"/>
          </a:xfrm>
          <a:custGeom>
            <a:avLst/>
            <a:gdLst/>
            <a:ahLst/>
            <a:cxnLst/>
            <a:rect r="r" b="b" t="t" l="l"/>
            <a:pathLst>
              <a:path h="2571750" w="2571750">
                <a:moveTo>
                  <a:pt x="0" y="0"/>
                </a:moveTo>
                <a:lnTo>
                  <a:pt x="2571750" y="0"/>
                </a:lnTo>
                <a:lnTo>
                  <a:pt x="2571750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8E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666750" y="9625012"/>
            <a:ext cx="5753100" cy="0"/>
          </a:xfrm>
          <a:prstGeom prst="line">
            <a:avLst/>
          </a:prstGeom>
          <a:ln cap="flat" w="9525">
            <a:solidFill>
              <a:srgbClr val="337AB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666750" y="2668545"/>
            <a:ext cx="16167690" cy="6325609"/>
          </a:xfrm>
          <a:custGeom>
            <a:avLst/>
            <a:gdLst/>
            <a:ahLst/>
            <a:cxnLst/>
            <a:rect r="r" b="b" t="t" l="l"/>
            <a:pathLst>
              <a:path h="6325609" w="16167690">
                <a:moveTo>
                  <a:pt x="0" y="0"/>
                </a:moveTo>
                <a:lnTo>
                  <a:pt x="16167690" y="0"/>
                </a:lnTo>
                <a:lnTo>
                  <a:pt x="16167690" y="6325609"/>
                </a:lnTo>
                <a:lnTo>
                  <a:pt x="0" y="63256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66750" y="723900"/>
            <a:ext cx="11201400" cy="103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20"/>
              </a:lnSpc>
            </a:pPr>
            <a:r>
              <a:rPr lang="en-US" sz="7200">
                <a:solidFill>
                  <a:srgbClr val="337AB7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Analytics Overview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66750" y="1812134"/>
            <a:ext cx="1391021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337AB7"/>
                </a:solidFill>
                <a:latin typeface="Canva Sans"/>
                <a:ea typeface="Canva Sans"/>
                <a:cs typeface="Canva Sans"/>
                <a:sym typeface="Canva Sans"/>
              </a:rPr>
              <a:t>Number of appointments per doctor per week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8E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666750" y="9625012"/>
            <a:ext cx="5753100" cy="0"/>
          </a:xfrm>
          <a:prstGeom prst="line">
            <a:avLst/>
          </a:prstGeom>
          <a:ln cap="flat" w="9525">
            <a:solidFill>
              <a:srgbClr val="337AB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666750" y="2661508"/>
            <a:ext cx="13826219" cy="6721332"/>
          </a:xfrm>
          <a:custGeom>
            <a:avLst/>
            <a:gdLst/>
            <a:ahLst/>
            <a:cxnLst/>
            <a:rect r="r" b="b" t="t" l="l"/>
            <a:pathLst>
              <a:path h="6721332" w="13826219">
                <a:moveTo>
                  <a:pt x="0" y="0"/>
                </a:moveTo>
                <a:lnTo>
                  <a:pt x="13826219" y="0"/>
                </a:lnTo>
                <a:lnTo>
                  <a:pt x="13826219" y="6721332"/>
                </a:lnTo>
                <a:lnTo>
                  <a:pt x="0" y="67213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99535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66750" y="723900"/>
            <a:ext cx="11201400" cy="103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20"/>
              </a:lnSpc>
            </a:pPr>
            <a:r>
              <a:rPr lang="en-US" sz="7200">
                <a:solidFill>
                  <a:srgbClr val="337AB7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Analytics Overview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66750" y="1812134"/>
            <a:ext cx="13910216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337AB7"/>
                </a:solidFill>
                <a:latin typeface="Canva Sans"/>
                <a:ea typeface="Canva Sans"/>
                <a:cs typeface="Canva Sans"/>
                <a:sym typeface="Canva Sans"/>
              </a:rPr>
              <a:t>Doctor workload summary (appointments per day)</a:t>
            </a:r>
          </a:p>
          <a:p>
            <a:pPr algn="l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8E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666750" y="9625012"/>
            <a:ext cx="5753100" cy="0"/>
          </a:xfrm>
          <a:prstGeom prst="line">
            <a:avLst/>
          </a:prstGeom>
          <a:ln cap="flat" w="9525">
            <a:solidFill>
              <a:srgbClr val="337AB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666750" y="2653965"/>
            <a:ext cx="17243533" cy="4979070"/>
          </a:xfrm>
          <a:custGeom>
            <a:avLst/>
            <a:gdLst/>
            <a:ahLst/>
            <a:cxnLst/>
            <a:rect r="r" b="b" t="t" l="l"/>
            <a:pathLst>
              <a:path h="4979070" w="17243533">
                <a:moveTo>
                  <a:pt x="0" y="0"/>
                </a:moveTo>
                <a:lnTo>
                  <a:pt x="17243533" y="0"/>
                </a:lnTo>
                <a:lnTo>
                  <a:pt x="17243533" y="4979070"/>
                </a:lnTo>
                <a:lnTo>
                  <a:pt x="0" y="49790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66750" y="723900"/>
            <a:ext cx="11201400" cy="103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20"/>
              </a:lnSpc>
            </a:pPr>
            <a:r>
              <a:rPr lang="en-US" sz="7200">
                <a:solidFill>
                  <a:srgbClr val="337AB7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Analytics Overview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66750" y="1812134"/>
            <a:ext cx="13910216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337AB7"/>
                </a:solidFill>
                <a:latin typeface="Canva Sans"/>
                <a:ea typeface="Canva Sans"/>
                <a:cs typeface="Canva Sans"/>
                <a:sym typeface="Canva Sans"/>
              </a:rPr>
              <a:t>Most common visit reasons</a:t>
            </a:r>
          </a:p>
          <a:p>
            <a:pPr algn="l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8E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666750" y="9625012"/>
            <a:ext cx="5753100" cy="0"/>
          </a:xfrm>
          <a:prstGeom prst="line">
            <a:avLst/>
          </a:prstGeom>
          <a:ln cap="flat" w="9525">
            <a:solidFill>
              <a:srgbClr val="337AB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666750" y="2579144"/>
            <a:ext cx="16925925" cy="6220277"/>
          </a:xfrm>
          <a:custGeom>
            <a:avLst/>
            <a:gdLst/>
            <a:ahLst/>
            <a:cxnLst/>
            <a:rect r="r" b="b" t="t" l="l"/>
            <a:pathLst>
              <a:path h="6220277" w="16925925">
                <a:moveTo>
                  <a:pt x="0" y="0"/>
                </a:moveTo>
                <a:lnTo>
                  <a:pt x="16925925" y="0"/>
                </a:lnTo>
                <a:lnTo>
                  <a:pt x="16925925" y="6220277"/>
                </a:lnTo>
                <a:lnTo>
                  <a:pt x="0" y="62202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66750" y="723900"/>
            <a:ext cx="11201400" cy="103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20"/>
              </a:lnSpc>
            </a:pPr>
            <a:r>
              <a:rPr lang="en-US" sz="7200">
                <a:solidFill>
                  <a:srgbClr val="337AB7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Analytics Overview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66750" y="1812134"/>
            <a:ext cx="13910216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337AB7"/>
                </a:solidFill>
                <a:latin typeface="Canva Sans"/>
                <a:ea typeface="Canva Sans"/>
                <a:cs typeface="Canva Sans"/>
                <a:sym typeface="Canva Sans"/>
              </a:rPr>
              <a:t>Patient visit frequency by month</a:t>
            </a:r>
          </a:p>
          <a:p>
            <a:pPr algn="l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666750" y="9625012"/>
            <a:ext cx="5753100" cy="0"/>
          </a:xfrm>
          <a:prstGeom prst="line">
            <a:avLst/>
          </a:prstGeom>
          <a:ln cap="flat" w="9525">
            <a:solidFill>
              <a:srgbClr val="337AB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666750" y="723900"/>
            <a:ext cx="11201400" cy="103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20"/>
              </a:lnSpc>
            </a:pPr>
            <a:r>
              <a:rPr lang="en-US" sz="7200">
                <a:solidFill>
                  <a:srgbClr val="337AB7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Future Enhancements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66750" y="6153150"/>
            <a:ext cx="2571750" cy="2571750"/>
          </a:xfrm>
          <a:custGeom>
            <a:avLst/>
            <a:gdLst/>
            <a:ahLst/>
            <a:cxnLst/>
            <a:rect r="r" b="b" t="t" l="l"/>
            <a:pathLst>
              <a:path h="2571750" w="2571750">
                <a:moveTo>
                  <a:pt x="0" y="0"/>
                </a:moveTo>
                <a:lnTo>
                  <a:pt x="2571750" y="0"/>
                </a:lnTo>
                <a:lnTo>
                  <a:pt x="2571750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666750" y="2091841"/>
            <a:ext cx="14028837" cy="2915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1448" indent="-200724" lvl="1">
              <a:lnSpc>
                <a:spcPts val="2603"/>
              </a:lnSpc>
              <a:spcBef>
                <a:spcPct val="0"/>
              </a:spcBef>
              <a:buFont typeface="Arial"/>
              <a:buChar char="•"/>
            </a:pPr>
            <a:r>
              <a:rPr lang="en-US" sz="1859" strike="noStrike" u="none">
                <a:solidFill>
                  <a:srgbClr val="337AB7"/>
                </a:solidFill>
                <a:latin typeface="Canva Sans"/>
                <a:ea typeface="Canva Sans"/>
                <a:cs typeface="Canva Sans"/>
                <a:sym typeface="Canva Sans"/>
              </a:rPr>
              <a:t>Add a little bit of body textAdd role-based access so doctors, nurses, and admin each get their own login and dashboard</a:t>
            </a:r>
          </a:p>
          <a:p>
            <a:pPr algn="l" marL="401448" indent="-200724" lvl="1">
              <a:lnSpc>
                <a:spcPts val="2603"/>
              </a:lnSpc>
              <a:spcBef>
                <a:spcPct val="0"/>
              </a:spcBef>
              <a:buFont typeface="Arial"/>
              <a:buChar char="•"/>
            </a:pPr>
            <a:r>
              <a:rPr lang="en-US" sz="1859" strike="noStrike" u="none">
                <a:solidFill>
                  <a:srgbClr val="337AB7"/>
                </a:solidFill>
                <a:latin typeface="Canva Sans"/>
                <a:ea typeface="Canva Sans"/>
                <a:cs typeface="Canva Sans"/>
                <a:sym typeface="Canva Sans"/>
              </a:rPr>
              <a:t>Build a dedicated doctor view to see appointments, patients, and room assignments</a:t>
            </a:r>
          </a:p>
          <a:p>
            <a:pPr algn="l" marL="401448" indent="-200724" lvl="1">
              <a:lnSpc>
                <a:spcPts val="2603"/>
              </a:lnSpc>
              <a:spcBef>
                <a:spcPct val="0"/>
              </a:spcBef>
              <a:buFont typeface="Arial"/>
              <a:buChar char="•"/>
            </a:pPr>
            <a:r>
              <a:rPr lang="en-US" sz="1859" strike="noStrike" u="none">
                <a:solidFill>
                  <a:srgbClr val="337AB7"/>
                </a:solidFill>
                <a:latin typeface="Canva Sans"/>
                <a:ea typeface="Canva Sans"/>
                <a:cs typeface="Canva Sans"/>
                <a:sym typeface="Canva Sans"/>
              </a:rPr>
              <a:t>Expand analytics with charts for revenue, patient visits, and doctor workload</a:t>
            </a:r>
          </a:p>
          <a:p>
            <a:pPr algn="l" marL="401448" indent="-200724" lvl="1">
              <a:lnSpc>
                <a:spcPts val="2603"/>
              </a:lnSpc>
              <a:spcBef>
                <a:spcPct val="0"/>
              </a:spcBef>
              <a:buFont typeface="Arial"/>
              <a:buChar char="•"/>
            </a:pPr>
            <a:r>
              <a:rPr lang="en-US" sz="1859" strike="noStrike" u="none">
                <a:solidFill>
                  <a:srgbClr val="337AB7"/>
                </a:solidFill>
                <a:latin typeface="Canva Sans"/>
                <a:ea typeface="Canva Sans"/>
                <a:cs typeface="Canva Sans"/>
                <a:sym typeface="Canva Sans"/>
              </a:rPr>
              <a:t>Improve UI design with a more modern layout and responsive components</a:t>
            </a:r>
          </a:p>
          <a:p>
            <a:pPr algn="l" marL="401448" indent="-200724" lvl="1">
              <a:lnSpc>
                <a:spcPts val="2603"/>
              </a:lnSpc>
              <a:spcBef>
                <a:spcPct val="0"/>
              </a:spcBef>
              <a:buFont typeface="Arial"/>
              <a:buChar char="•"/>
            </a:pPr>
            <a:r>
              <a:rPr lang="en-US" sz="1859" strike="noStrike" u="none">
                <a:solidFill>
                  <a:srgbClr val="337AB7"/>
                </a:solidFill>
                <a:latin typeface="Canva Sans"/>
                <a:ea typeface="Canva Sans"/>
                <a:cs typeface="Canva Sans"/>
                <a:sym typeface="Canva Sans"/>
              </a:rPr>
              <a:t>Move from SQLite to MySQL/PostgreSQL for multi-user access and larger datasets</a:t>
            </a:r>
          </a:p>
          <a:p>
            <a:pPr algn="l" marL="401448" indent="-200724" lvl="1">
              <a:lnSpc>
                <a:spcPts val="2603"/>
              </a:lnSpc>
              <a:spcBef>
                <a:spcPct val="0"/>
              </a:spcBef>
              <a:buFont typeface="Arial"/>
              <a:buChar char="•"/>
            </a:pPr>
            <a:r>
              <a:rPr lang="en-US" sz="1859" strike="noStrike" u="none">
                <a:solidFill>
                  <a:srgbClr val="337AB7"/>
                </a:solidFill>
                <a:latin typeface="Canva Sans"/>
                <a:ea typeface="Canva Sans"/>
                <a:cs typeface="Canva Sans"/>
                <a:sym typeface="Canva Sans"/>
              </a:rPr>
              <a:t>Add automated reminders for appointments and billing updates</a:t>
            </a:r>
          </a:p>
          <a:p>
            <a:pPr algn="l" marL="401448" indent="-200724" lvl="1">
              <a:lnSpc>
                <a:spcPts val="2603"/>
              </a:lnSpc>
              <a:spcBef>
                <a:spcPct val="0"/>
              </a:spcBef>
              <a:buFont typeface="Arial"/>
              <a:buChar char="•"/>
            </a:pPr>
            <a:r>
              <a:rPr lang="en-US" sz="1859" strike="noStrike" u="none">
                <a:solidFill>
                  <a:srgbClr val="337AB7"/>
                </a:solidFill>
                <a:latin typeface="Canva Sans"/>
                <a:ea typeface="Canva Sans"/>
                <a:cs typeface="Canva Sans"/>
                <a:sym typeface="Canva Sans"/>
              </a:rPr>
              <a:t>Include complete medical history and treatment records for each patient</a:t>
            </a:r>
          </a:p>
          <a:p>
            <a:pPr algn="l" marL="401448" indent="-200724" lvl="1">
              <a:lnSpc>
                <a:spcPts val="2603"/>
              </a:lnSpc>
              <a:spcBef>
                <a:spcPct val="0"/>
              </a:spcBef>
              <a:buFont typeface="Arial"/>
              <a:buChar char="•"/>
            </a:pPr>
            <a:r>
              <a:rPr lang="en-US" sz="1859" strike="noStrike" u="none">
                <a:solidFill>
                  <a:srgbClr val="337AB7"/>
                </a:solidFill>
                <a:latin typeface="Canva Sans"/>
                <a:ea typeface="Canva Sans"/>
                <a:cs typeface="Canva Sans"/>
                <a:sym typeface="Canva Sans"/>
              </a:rPr>
              <a:t>Deploy on the cloud for remote access and scalability</a:t>
            </a:r>
          </a:p>
          <a:p>
            <a:pPr algn="l" marL="0" indent="0" lvl="0">
              <a:lnSpc>
                <a:spcPts val="260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991600" y="666750"/>
            <a:ext cx="9296400" cy="9620250"/>
            <a:chOff x="0" y="0"/>
            <a:chExt cx="957635" cy="9909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57635" cy="990995"/>
            </a:xfrm>
            <a:custGeom>
              <a:avLst/>
              <a:gdLst/>
              <a:ahLst/>
              <a:cxnLst/>
              <a:rect r="r" b="b" t="t" l="l"/>
              <a:pathLst>
                <a:path h="990995" w="957635">
                  <a:moveTo>
                    <a:pt x="0" y="0"/>
                  </a:moveTo>
                  <a:lnTo>
                    <a:pt x="957635" y="0"/>
                  </a:lnTo>
                  <a:lnTo>
                    <a:pt x="957635" y="990995"/>
                  </a:lnTo>
                  <a:lnTo>
                    <a:pt x="0" y="990995"/>
                  </a:lnTo>
                  <a:close/>
                </a:path>
              </a:pathLst>
            </a:custGeom>
            <a:blipFill>
              <a:blip r:embed="rId2"/>
              <a:stretch>
                <a:fillRect l="0" t="-69" r="0" b="-69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6750" y="723900"/>
            <a:ext cx="6886575" cy="103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20"/>
              </a:lnSpc>
            </a:pPr>
            <a:r>
              <a:rPr lang="en-US" sz="7200">
                <a:solidFill>
                  <a:srgbClr val="337AB7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Key Learnings</a:t>
            </a:r>
          </a:p>
        </p:txBody>
      </p:sp>
      <p:sp>
        <p:nvSpPr>
          <p:cNvPr name="AutoShape 5" id="5"/>
          <p:cNvSpPr/>
          <p:nvPr/>
        </p:nvSpPr>
        <p:spPr>
          <a:xfrm flipV="true">
            <a:off x="666750" y="9625012"/>
            <a:ext cx="5753100" cy="0"/>
          </a:xfrm>
          <a:prstGeom prst="line">
            <a:avLst/>
          </a:prstGeom>
          <a:ln cap="flat" w="9525">
            <a:solidFill>
              <a:srgbClr val="337AB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666750" y="6501765"/>
            <a:ext cx="6886575" cy="222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</a:pPr>
            <a:r>
              <a:rPr lang="en-US" sz="2100">
                <a:solidFill>
                  <a:srgbClr val="337AB7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Throughout the project, We gained valuable insights into </a:t>
            </a:r>
            <a:r>
              <a:rPr lang="en-US" b="true" sz="2100">
                <a:solidFill>
                  <a:srgbClr val="337AB7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database modeling, GUI design,</a:t>
            </a:r>
            <a:r>
              <a:rPr lang="en-US" sz="2100">
                <a:solidFill>
                  <a:srgbClr val="337AB7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and </a:t>
            </a:r>
            <a:r>
              <a:rPr lang="en-US" b="true" sz="2100">
                <a:solidFill>
                  <a:srgbClr val="337AB7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analytics implementation</a:t>
            </a:r>
            <a:r>
              <a:rPr lang="en-US" sz="2100">
                <a:solidFill>
                  <a:srgbClr val="337AB7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. Understanding the importance of effective validation and debugging processes has significantly enhanced my skills, ensuring a robust hospital management system that meets user needs efficiently.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8E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991600" y="666750"/>
            <a:ext cx="9296400" cy="9620250"/>
            <a:chOff x="0" y="0"/>
            <a:chExt cx="957635" cy="9909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57635" cy="990995"/>
            </a:xfrm>
            <a:custGeom>
              <a:avLst/>
              <a:gdLst/>
              <a:ahLst/>
              <a:cxnLst/>
              <a:rect r="r" b="b" t="t" l="l"/>
              <a:pathLst>
                <a:path h="990995" w="957635">
                  <a:moveTo>
                    <a:pt x="0" y="0"/>
                  </a:moveTo>
                  <a:lnTo>
                    <a:pt x="957635" y="0"/>
                  </a:lnTo>
                  <a:lnTo>
                    <a:pt x="957635" y="990995"/>
                  </a:lnTo>
                  <a:lnTo>
                    <a:pt x="0" y="990995"/>
                  </a:lnTo>
                  <a:close/>
                </a:path>
              </a:pathLst>
            </a:custGeom>
            <a:blipFill>
              <a:blip r:embed="rId2"/>
              <a:stretch>
                <a:fillRect l="0" t="-69" r="0" b="-69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6750" y="723900"/>
            <a:ext cx="6886575" cy="2034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20"/>
              </a:lnSpc>
            </a:pPr>
            <a:r>
              <a:rPr lang="en-US" sz="7200">
                <a:solidFill>
                  <a:srgbClr val="337AB7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Conclusion &amp; Future</a:t>
            </a:r>
          </a:p>
        </p:txBody>
      </p:sp>
      <p:sp>
        <p:nvSpPr>
          <p:cNvPr name="AutoShape 5" id="5"/>
          <p:cNvSpPr/>
          <p:nvPr/>
        </p:nvSpPr>
        <p:spPr>
          <a:xfrm flipV="true">
            <a:off x="666750" y="9625012"/>
            <a:ext cx="5753100" cy="0"/>
          </a:xfrm>
          <a:prstGeom prst="line">
            <a:avLst/>
          </a:prstGeom>
          <a:ln cap="flat" w="9525">
            <a:solidFill>
              <a:srgbClr val="337AB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666750" y="6501765"/>
            <a:ext cx="6886575" cy="222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</a:pPr>
            <a:r>
              <a:rPr lang="en-US" sz="2100">
                <a:solidFill>
                  <a:srgbClr val="337AB7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In summary, our hospital management system has achieved </a:t>
            </a:r>
            <a:r>
              <a:rPr lang="en-US" b="true" sz="2100">
                <a:solidFill>
                  <a:srgbClr val="337AB7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significant milestones</a:t>
            </a:r>
            <a:r>
              <a:rPr lang="en-US" sz="2100">
                <a:solidFill>
                  <a:srgbClr val="337AB7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in streamlining operations and enhancing data accessibility. With a focus on extensibility and user-centric design, we are well-prepared to adapt to future healthcare challenges and innovations.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Hospital Management System</dc:description>
  <dc:identifier>DAG6st4n7YM</dc:identifier>
  <dcterms:modified xsi:type="dcterms:W3CDTF">2011-08-01T06:04:30Z</dcterms:modified>
  <cp:revision>1</cp:revision>
  <dc:title>Presentation - Hospital Management System</dc:title>
</cp:coreProperties>
</file>